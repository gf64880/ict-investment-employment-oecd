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8" r:id="rId3"/>
    <p:sldId id="28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2" r:id="rId12"/>
    <p:sldId id="272" r:id="rId13"/>
    <p:sldId id="284" r:id="rId14"/>
    <p:sldId id="271" r:id="rId15"/>
  </p:sldIdLst>
  <p:sldSz cx="18288000" cy="10287000"/>
  <p:notesSz cx="18288000" cy="10287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Copertina e indice" id="{297E1AFA-A42A-4CFC-B4CF-9D1A51E5789A}">
          <p14:sldIdLst>
            <p14:sldId id="256"/>
          </p14:sldIdLst>
        </p14:section>
        <p14:section name="Introduction" id="{CD69BE85-3543-4AFC-A068-0AE2CC2C398C}">
          <p14:sldIdLst>
            <p14:sldId id="268"/>
            <p14:sldId id="283"/>
          </p14:sldIdLst>
        </p14:section>
        <p14:section name="Data" id="{21C62967-30FA-4983-94DC-BDDEFB97F872}">
          <p14:sldIdLst>
            <p14:sldId id="274"/>
            <p14:sldId id="275"/>
            <p14:sldId id="276"/>
          </p14:sldIdLst>
        </p14:section>
        <p14:section name="Regression" id="{D9822ED9-BFBC-4D38-BC9D-40E134658A90}">
          <p14:sldIdLst>
            <p14:sldId id="277"/>
            <p14:sldId id="278"/>
            <p14:sldId id="279"/>
            <p14:sldId id="280"/>
            <p14:sldId id="282"/>
          </p14:sldIdLst>
        </p14:section>
        <p14:section name="Conclusion" id="{F13B67A6-4E00-4E8E-8A17-3BA7D1F10A1F}">
          <p14:sldIdLst>
            <p14:sldId id="272"/>
            <p14:sldId id="284"/>
          </p14:sldIdLst>
        </p14:section>
        <p14:section name="Bibliography" id="{45A00520-A9D6-403E-910E-663FB1BC4B40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A"/>
    <a:srgbClr val="7EA6A0"/>
    <a:srgbClr val="BED2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049" autoAdjust="0"/>
  </p:normalViewPr>
  <p:slideViewPr>
    <p:cSldViewPr>
      <p:cViewPr varScale="1">
        <p:scale>
          <a:sx n="44" d="100"/>
          <a:sy n="44" d="100"/>
        </p:scale>
        <p:origin x="58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2058035"/>
          </a:xfrm>
          <a:custGeom>
            <a:avLst/>
            <a:gdLst/>
            <a:ahLst/>
            <a:cxnLst/>
            <a:rect l="l" t="t" r="r" b="b"/>
            <a:pathLst>
              <a:path w="18288000" h="2058035">
                <a:moveTo>
                  <a:pt x="18287678" y="2057866"/>
                </a:moveTo>
                <a:lnTo>
                  <a:pt x="0" y="2057866"/>
                </a:lnTo>
                <a:lnTo>
                  <a:pt x="0" y="0"/>
                </a:lnTo>
                <a:lnTo>
                  <a:pt x="18287678" y="0"/>
                </a:lnTo>
                <a:lnTo>
                  <a:pt x="18287678" y="2057866"/>
                </a:lnTo>
                <a:close/>
              </a:path>
            </a:pathLst>
          </a:custGeom>
          <a:solidFill>
            <a:srgbClr val="7EA6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44487" y="99675"/>
            <a:ext cx="12199024" cy="172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10/24/2024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10/24/2024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10/24/2024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2044700"/>
          </a:xfrm>
          <a:custGeom>
            <a:avLst/>
            <a:gdLst/>
            <a:ahLst/>
            <a:cxnLst/>
            <a:rect l="l" t="t" r="r" b="b"/>
            <a:pathLst>
              <a:path w="18288000" h="2044700">
                <a:moveTo>
                  <a:pt x="18287521" y="2044369"/>
                </a:moveTo>
                <a:lnTo>
                  <a:pt x="0" y="2044369"/>
                </a:lnTo>
                <a:lnTo>
                  <a:pt x="0" y="0"/>
                </a:lnTo>
                <a:lnTo>
                  <a:pt x="18287521" y="0"/>
                </a:lnTo>
                <a:lnTo>
                  <a:pt x="18287521" y="2044369"/>
                </a:lnTo>
                <a:close/>
              </a:path>
            </a:pathLst>
          </a:custGeom>
          <a:solidFill>
            <a:srgbClr val="7EA6A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53463" y="90169"/>
            <a:ext cx="13181072" cy="1720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7015" y="2894644"/>
            <a:ext cx="15213330" cy="5969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10/24/2024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44371" y="-190500"/>
            <a:ext cx="9996716" cy="1025978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8235000"/>
            <a:ext cx="18285460" cy="2052000"/>
          </a:xfrm>
          <a:custGeom>
            <a:avLst/>
            <a:gdLst/>
            <a:ahLst/>
            <a:cxnLst/>
            <a:rect l="l" t="t" r="r" b="b"/>
            <a:pathLst>
              <a:path w="18285460" h="1926590">
                <a:moveTo>
                  <a:pt x="18285454" y="1926368"/>
                </a:moveTo>
                <a:lnTo>
                  <a:pt x="0" y="1926368"/>
                </a:lnTo>
                <a:lnTo>
                  <a:pt x="0" y="0"/>
                </a:lnTo>
                <a:lnTo>
                  <a:pt x="18285454" y="0"/>
                </a:lnTo>
                <a:lnTo>
                  <a:pt x="18285454" y="1926368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it-IT" sz="2800" i="1" dirty="0">
                <a:solidFill>
                  <a:schemeClr val="bg1"/>
                </a:solidFill>
                <a:latin typeface="Felix Titling" panose="04060505060202020A04" pitchFamily="82" charset="0"/>
              </a:rPr>
              <a:t>corso di laurea in economia e azienda digitale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2800" i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DIPARTIMENTO DI ECONOMIA E MANAGEMENT</a:t>
            </a:r>
            <a:endParaRPr lang="en-GB" sz="2800" i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8B696C-2FDE-36C3-7433-10AEE9E00951}"/>
              </a:ext>
            </a:extLst>
          </p:cNvPr>
          <p:cNvSpPr txBox="1"/>
          <p:nvPr/>
        </p:nvSpPr>
        <p:spPr>
          <a:xfrm>
            <a:off x="4265294" y="2881755"/>
            <a:ext cx="975487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THE IMPACT OF ICT INVESTMENTS ON EMPLOYMENT IN OECD COUNTRIES: </a:t>
            </a:r>
          </a:p>
          <a:p>
            <a:pPr algn="ctr"/>
            <a:r>
              <a:rPr lang="en-GB" sz="48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A SECTORAL ANALYSIS</a:t>
            </a:r>
            <a:endParaRPr lang="en-GB" sz="4800" dirty="0">
              <a:solidFill>
                <a:schemeClr val="tx2">
                  <a:lumMod val="75000"/>
                </a:schemeClr>
              </a:solidFill>
              <a:latin typeface="Felix Titling" panose="04060505060202020A04" pitchFamily="82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2D82418-9BE3-CEE1-F4C6-C2316F662697}"/>
              </a:ext>
            </a:extLst>
          </p:cNvPr>
          <p:cNvSpPr txBox="1"/>
          <p:nvPr/>
        </p:nvSpPr>
        <p:spPr>
          <a:xfrm>
            <a:off x="6474777" y="6758499"/>
            <a:ext cx="53359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kern="50" spc="-50" dirty="0">
                <a:solidFill>
                  <a:schemeClr val="tx2">
                    <a:lumMod val="75000"/>
                  </a:schemeClr>
                </a:solidFill>
                <a:latin typeface="Gill Sans Nova Light" panose="020B0302020104020203" pitchFamily="34" charset="0"/>
              </a:rPr>
              <a:t>Gabriele Ferraresi</a:t>
            </a:r>
          </a:p>
          <a:p>
            <a:pPr algn="ctr"/>
            <a:endParaRPr lang="it-IT" sz="2800" b="1" kern="50" spc="-50" dirty="0">
              <a:solidFill>
                <a:schemeClr val="tx2">
                  <a:lumMod val="75000"/>
                </a:schemeClr>
              </a:solidFill>
              <a:latin typeface="Gill Sans Nova Light" panose="020B0302020104020203" pitchFamily="34" charset="0"/>
            </a:endParaRPr>
          </a:p>
          <a:p>
            <a:pPr algn="ctr"/>
            <a:r>
              <a:rPr lang="it-IT" sz="2800" b="1" kern="50" spc="-50" dirty="0">
                <a:solidFill>
                  <a:schemeClr val="tx2">
                    <a:lumMod val="75000"/>
                  </a:schemeClr>
                </a:solidFill>
                <a:latin typeface="Gill Sans Nova Light" panose="020B0302020104020203" pitchFamily="34" charset="0"/>
              </a:rPr>
              <a:t>Relatore: Chiar.mo Prof. Jacopo Bonan</a:t>
            </a:r>
            <a:endParaRPr lang="en-GB" sz="2800" dirty="0">
              <a:solidFill>
                <a:schemeClr val="tx2">
                  <a:lumMod val="75000"/>
                </a:schemeClr>
              </a:solidFill>
              <a:latin typeface="Gill Sans Nova Light" panose="020B03020201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56248" y="48985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 err="1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it-IT" sz="48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8B696C-2FDE-36C3-7433-10AEE9E00951}"/>
              </a:ext>
            </a:extLst>
          </p:cNvPr>
          <p:cNvSpPr txBox="1"/>
          <p:nvPr/>
        </p:nvSpPr>
        <p:spPr>
          <a:xfrm>
            <a:off x="838800" y="3423974"/>
            <a:ext cx="16610400" cy="600164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lvl="8" algn="l"/>
            <a:r>
              <a:rPr lang="en-GB" sz="3200" b="1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Positive effects</a:t>
            </a:r>
          </a:p>
          <a:p>
            <a:pPr lvl="8" algn="l"/>
            <a:endParaRPr lang="en-GB" sz="3200" b="1" kern="50" spc="-50" dirty="0">
              <a:solidFill>
                <a:schemeClr val="tx2">
                  <a:lumMod val="75000"/>
                </a:schemeClr>
              </a:solidFill>
              <a:effectLst/>
              <a:latin typeface="Gill Sans Nova Light" panose="020B0302020104020203" pitchFamily="34" charset="0"/>
              <a:ea typeface="Aptos" panose="020B0004020202020204" pitchFamily="34" charset="0"/>
              <a:cs typeface="font318"/>
            </a:endParaRPr>
          </a:p>
          <a:p>
            <a:pPr marL="457200" lvl="8" indent="-457200" algn="l">
              <a:buFont typeface="Arial" panose="020B0604020202020204" pitchFamily="34" charset="0"/>
              <a:buChar char="•"/>
            </a:pPr>
            <a:r>
              <a:rPr lang="en-GB" sz="3200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Productivity and efficiency gains</a:t>
            </a:r>
          </a:p>
          <a:p>
            <a:pPr marL="457200" lvl="6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Creation of new jobs categories</a:t>
            </a:r>
          </a:p>
          <a:p>
            <a:pPr marL="457200" lvl="6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Enhanced global competitiveness</a:t>
            </a:r>
          </a:p>
          <a:p>
            <a:pPr marL="457200" lvl="6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Improved labour market flexibility and remote work</a:t>
            </a:r>
          </a:p>
          <a:p>
            <a:pPr marL="457200" lvl="6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Skill development and wor</a:t>
            </a:r>
            <a:r>
              <a:rPr lang="en-GB" sz="3200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kforce adaptation</a:t>
            </a:r>
          </a:p>
          <a:p>
            <a:pPr marL="457200" lvl="6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Economic spillover effects</a:t>
            </a:r>
          </a:p>
          <a:p>
            <a:pPr lvl="6" algn="l"/>
            <a:r>
              <a:rPr lang="en-GB" sz="32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Negative effects</a:t>
            </a:r>
          </a:p>
          <a:p>
            <a:pPr lvl="6" algn="l"/>
            <a:endParaRPr lang="en-GB" sz="3200" kern="50" spc="-50" dirty="0">
              <a:solidFill>
                <a:schemeClr val="tx2">
                  <a:lumMod val="75000"/>
                </a:schemeClr>
              </a:solidFill>
              <a:latin typeface="Gill Sans Nova" panose="020B0602020104020203" pitchFamily="34" charset="0"/>
              <a:ea typeface="Aptos" panose="020B0004020202020204" pitchFamily="34" charset="0"/>
              <a:cs typeface="font318"/>
            </a:endParaRPr>
          </a:p>
          <a:p>
            <a:pPr marL="457200" lvl="6" indent="-457200" algn="l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</a:rPr>
              <a:t>Automation and human labour replacement</a:t>
            </a:r>
          </a:p>
          <a:p>
            <a:pPr marL="457200" marR="0" lvl="6" indent="-45720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Gill Sans Nova" panose="020B0602020104020203" pitchFamily="34" charset="0"/>
              </a:rPr>
              <a:t>Labour market polarization</a:t>
            </a:r>
          </a:p>
          <a:p>
            <a:pPr marL="457200" marR="0" lvl="6" indent="-45720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3200" b="0" i="0" u="none" strike="noStrike" kern="0" cap="none" spc="0" normalizeH="0" baseline="0" noProof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Gill Sans Nova" panose="020B0602020104020203" pitchFamily="34" charset="0"/>
              </a:rPr>
              <a:t>Displacement of traditional positions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412AD7F-C9C8-0A62-CD92-84A0E7C48FFA}"/>
              </a:ext>
            </a:extLst>
          </p:cNvPr>
          <p:cNvSpPr txBox="1"/>
          <p:nvPr/>
        </p:nvSpPr>
        <p:spPr>
          <a:xfrm>
            <a:off x="0" y="2384044"/>
            <a:ext cx="182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THE RELATIONSHIP BETWEEN ICT INVESTMENTS AND EMPLOYMENT</a:t>
            </a:r>
          </a:p>
        </p:txBody>
      </p:sp>
    </p:spTree>
    <p:extLst>
      <p:ext uri="{BB962C8B-B14F-4D97-AF65-F5344CB8AC3E}">
        <p14:creationId xmlns:p14="http://schemas.microsoft.com/office/powerpoint/2010/main" val="122513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56248" y="48985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 err="1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it-IT" sz="48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412AD7F-C9C8-0A62-CD92-84A0E7C48FFA}"/>
              </a:ext>
            </a:extLst>
          </p:cNvPr>
          <p:cNvSpPr txBox="1"/>
          <p:nvPr/>
        </p:nvSpPr>
        <p:spPr>
          <a:xfrm>
            <a:off x="0" y="2378214"/>
            <a:ext cx="182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RESEARCH QUESTION, DATA SOURCE AND EMPIRICAL APPROACH</a:t>
            </a: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36B2A830-D998-37E7-7162-31029F3A548D}"/>
              </a:ext>
            </a:extLst>
          </p:cNvPr>
          <p:cNvGrpSpPr/>
          <p:nvPr/>
        </p:nvGrpSpPr>
        <p:grpSpPr>
          <a:xfrm>
            <a:off x="9143998" y="4122964"/>
            <a:ext cx="8991601" cy="5127171"/>
            <a:chOff x="9143999" y="5143499"/>
            <a:chExt cx="9144000" cy="5127171"/>
          </a:xfrm>
        </p:grpSpPr>
        <p:pic>
          <p:nvPicPr>
            <p:cNvPr id="7" name="Immagine 6" descr="Immagine che contiene mappa, testo&#10;&#10;Descrizione generata automaticamente">
              <a:extLst>
                <a:ext uri="{FF2B5EF4-FFF2-40B4-BE49-F238E27FC236}">
                  <a16:creationId xmlns:a16="http://schemas.microsoft.com/office/drawing/2014/main" id="{B5CD1337-E8DA-2178-76AD-E196AD457A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44000" y="5143499"/>
              <a:ext cx="9143999" cy="5127171"/>
            </a:xfrm>
            <a:prstGeom prst="rect">
              <a:avLst/>
            </a:prstGeom>
            <a:ln>
              <a:solidFill>
                <a:schemeClr val="tx2">
                  <a:lumMod val="75000"/>
                </a:schemeClr>
              </a:solidFill>
            </a:ln>
          </p:spPr>
        </p:pic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E3C4647C-67A0-2E74-63F9-9CC1FBEC5DBE}"/>
                </a:ext>
              </a:extLst>
            </p:cNvPr>
            <p:cNvSpPr/>
            <p:nvPr/>
          </p:nvSpPr>
          <p:spPr>
            <a:xfrm>
              <a:off x="9601200" y="9639300"/>
              <a:ext cx="1295400" cy="304800"/>
            </a:xfrm>
            <a:prstGeom prst="rect">
              <a:avLst/>
            </a:prstGeom>
            <a:solidFill>
              <a:srgbClr val="FFFF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3F6100BC-6401-4506-70FE-9FB16D9741A0}"/>
                </a:ext>
              </a:extLst>
            </p:cNvPr>
            <p:cNvSpPr txBox="1"/>
            <p:nvPr/>
          </p:nvSpPr>
          <p:spPr>
            <a:xfrm>
              <a:off x="9143999" y="7841401"/>
              <a:ext cx="2743200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kern="50" spc="-50" dirty="0">
                  <a:solidFill>
                    <a:schemeClr val="tx2">
                      <a:lumMod val="75000"/>
                    </a:schemeClr>
                  </a:solidFill>
                  <a:latin typeface="Gill Sans Nova" panose="020B0602020104020203" pitchFamily="34" charset="0"/>
                  <a:ea typeface="Aptos" panose="020B0004020202020204" pitchFamily="34" charset="0"/>
                  <a:cs typeface="font318"/>
                </a:rPr>
                <a:t>Time span: 2000 - 2019</a:t>
              </a:r>
            </a:p>
            <a:p>
              <a:endParaRPr lang="en-GB" sz="1400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endParaRPr>
            </a:p>
            <a:p>
              <a:r>
                <a:rPr lang="en-GB" sz="1400" kern="50" spc="-50" dirty="0">
                  <a:solidFill>
                    <a:schemeClr val="tx2">
                      <a:lumMod val="75000"/>
                    </a:schemeClr>
                  </a:solidFill>
                  <a:latin typeface="Gill Sans Nova" panose="020B0602020104020203" pitchFamily="34" charset="0"/>
                  <a:ea typeface="Aptos" panose="020B0004020202020204" pitchFamily="34" charset="0"/>
                  <a:cs typeface="font318"/>
                </a:rPr>
                <a:t>Selected economic activities:</a:t>
              </a:r>
            </a:p>
            <a:p>
              <a:pPr marL="285750" indent="-285750">
                <a:buFontTx/>
                <a:buChar char="-"/>
              </a:pPr>
              <a:r>
                <a:rPr lang="en-GB" sz="1400" kern="50" spc="-50" dirty="0">
                  <a:solidFill>
                    <a:schemeClr val="tx2">
                      <a:lumMod val="75000"/>
                    </a:schemeClr>
                  </a:solidFill>
                  <a:latin typeface="Gill Sans Nova" panose="020B0602020104020203" pitchFamily="34" charset="0"/>
                </a:rPr>
                <a:t>Manufacturing</a:t>
              </a:r>
            </a:p>
            <a:p>
              <a:pPr marL="285750" indent="-285750">
                <a:buFontTx/>
                <a:buChar char="-"/>
              </a:pPr>
              <a:r>
                <a:rPr lang="en-GB" sz="1400" kern="50" spc="-50" dirty="0">
                  <a:solidFill>
                    <a:schemeClr val="tx2">
                      <a:lumMod val="75000"/>
                    </a:schemeClr>
                  </a:solidFill>
                  <a:latin typeface="Gill Sans Nova" panose="020B0602020104020203" pitchFamily="34" charset="0"/>
                </a:rPr>
                <a:t>Information and communication</a:t>
              </a:r>
            </a:p>
            <a:p>
              <a:pPr marL="285750" indent="-285750">
                <a:buFontTx/>
                <a:buChar char="-"/>
              </a:pPr>
              <a:r>
                <a:rPr lang="en-GB" sz="1400" kern="50" spc="-50" dirty="0">
                  <a:solidFill>
                    <a:schemeClr val="tx2">
                      <a:lumMod val="75000"/>
                    </a:schemeClr>
                  </a:solidFill>
                  <a:latin typeface="Gill Sans Nova" panose="020B0602020104020203" pitchFamily="34" charset="0"/>
                </a:rPr>
                <a:t>Financial and insurance activities</a:t>
              </a:r>
            </a:p>
            <a:p>
              <a:pPr marL="285750" indent="-285750">
                <a:buFontTx/>
                <a:buChar char="-"/>
              </a:pPr>
              <a:r>
                <a:rPr lang="en-GB" sz="1400" kern="50" spc="-50" dirty="0">
                  <a:solidFill>
                    <a:schemeClr val="tx2">
                      <a:lumMod val="75000"/>
                    </a:schemeClr>
                  </a:solidFill>
                  <a:latin typeface="Gill Sans Nova" panose="020B0602020104020203" pitchFamily="34" charset="0"/>
                </a:rPr>
                <a:t>Professional, scientific and technical activities; administrative and support service activities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C8AF6714-2B13-109A-9DDD-665A3BBA15EA}"/>
              </a:ext>
            </a:extLst>
          </p:cNvPr>
          <p:cNvSpPr txBox="1"/>
          <p:nvPr/>
        </p:nvSpPr>
        <p:spPr>
          <a:xfrm>
            <a:off x="834515" y="3931949"/>
            <a:ext cx="8305198" cy="550920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lvl="8" indent="-457200" algn="l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F497D">
                    <a:lumMod val="75000"/>
                  </a:srgbClr>
                </a:solidFill>
                <a:latin typeface="Gill Sans Nova" panose="020B0602020104020203" pitchFamily="34" charset="0"/>
              </a:rPr>
              <a:t>Since there is not a uniform perspective, we’ll need to use an </a:t>
            </a:r>
            <a:r>
              <a:rPr kumimoji="0" lang="en-US" sz="3200" b="0" i="0" u="none" strike="noStrike" kern="0" cap="none" spc="0" normalizeH="0" baseline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Gill Sans Nova" panose="020B0602020104020203" pitchFamily="34" charset="0"/>
              </a:rPr>
              <a:t>OLS approach with panel data regression models.</a:t>
            </a:r>
          </a:p>
          <a:p>
            <a:pPr marL="457200" lvl="8" indent="-457200" algn="l">
              <a:buFont typeface="Arial" panose="020B0604020202020204" pitchFamily="34" charset="0"/>
              <a:buChar char="•"/>
            </a:pPr>
            <a:endParaRPr kumimoji="0" lang="en-US" sz="3200" b="0" i="0" u="none" strike="noStrike" kern="0" cap="none" spc="0" normalizeH="0" baseline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Gill Sans Nova" panose="020B0602020104020203" pitchFamily="34" charset="0"/>
            </a:endParaRPr>
          </a:p>
          <a:p>
            <a:pPr marL="457200" lvl="8" indent="-457200" algn="l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1F497D">
                  <a:lumMod val="75000"/>
                </a:srgbClr>
              </a:solidFill>
              <a:latin typeface="Gill Sans Nova" panose="020B0602020104020203" pitchFamily="34" charset="0"/>
            </a:endParaRPr>
          </a:p>
          <a:p>
            <a:pPr marL="457200" lvl="8" indent="-457200" algn="l">
              <a:buFont typeface="Arial" panose="020B0604020202020204" pitchFamily="34" charset="0"/>
              <a:buChar char="•"/>
            </a:pPr>
            <a:r>
              <a:rPr kumimoji="0" lang="en-US" sz="3200" b="0" i="0" u="none" strike="noStrike" kern="0" cap="none" spc="0" normalizeH="0" baseline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Gill Sans Nova" panose="020B0602020104020203" pitchFamily="34" charset="0"/>
              </a:rPr>
              <a:t>RQ: How do ICT investments affect employment?</a:t>
            </a:r>
          </a:p>
          <a:p>
            <a:pPr lvl="8" algn="l"/>
            <a:endParaRPr lang="en-US" sz="3200" dirty="0">
              <a:solidFill>
                <a:srgbClr val="1F497D">
                  <a:lumMod val="75000"/>
                </a:srgbClr>
              </a:solidFill>
              <a:latin typeface="Gill Sans Nova" panose="020B0602020104020203" pitchFamily="34" charset="0"/>
            </a:endParaRPr>
          </a:p>
          <a:p>
            <a:pPr lvl="8" algn="l"/>
            <a:endParaRPr lang="en-US" sz="3200" dirty="0">
              <a:solidFill>
                <a:srgbClr val="1F497D">
                  <a:lumMod val="75000"/>
                </a:srgbClr>
              </a:solidFill>
              <a:latin typeface="Gill Sans Nova" panose="020B0602020104020203" pitchFamily="34" charset="0"/>
            </a:endParaRPr>
          </a:p>
          <a:p>
            <a:pPr marL="457200" lvl="8" indent="-457200" algn="l">
              <a:buFont typeface="Arial" panose="020B0604020202020204" pitchFamily="34" charset="0"/>
              <a:buChar char="•"/>
            </a:pPr>
            <a:r>
              <a:rPr kumimoji="0" lang="en-US" sz="3200" b="0" i="0" u="none" strike="noStrike" kern="0" cap="none" spc="0" normalizeH="0" baseline="0" dirty="0">
                <a:ln>
                  <a:noFill/>
                </a:ln>
                <a:solidFill>
                  <a:srgbClr val="1F497D">
                    <a:lumMod val="75000"/>
                  </a:srgbClr>
                </a:solidFill>
                <a:effectLst/>
                <a:uLnTx/>
                <a:uFillTx/>
                <a:latin typeface="Gill Sans Nova" panose="020B0602020104020203" pitchFamily="34" charset="0"/>
              </a:rPr>
              <a:t>OECD Data Explorer, a</a:t>
            </a:r>
            <a:r>
              <a:rPr lang="en-US" sz="3200" dirty="0">
                <a:solidFill>
                  <a:srgbClr val="1F497D">
                    <a:lumMod val="75000"/>
                  </a:srgbClr>
                </a:solidFill>
                <a:latin typeface="Gill Sans Nova" panose="020B0602020104020203" pitchFamily="34" charset="0"/>
              </a:rPr>
              <a:t>nalysis considering Countries, Years and Economic activities</a:t>
            </a:r>
            <a:endParaRPr kumimoji="0" lang="en-US" sz="3200" b="0" i="0" u="none" strike="noStrike" kern="0" cap="none" spc="0" normalizeH="0" baseline="0" dirty="0">
              <a:ln>
                <a:noFill/>
              </a:ln>
              <a:solidFill>
                <a:srgbClr val="1F497D">
                  <a:lumMod val="75000"/>
                </a:srgbClr>
              </a:solidFill>
              <a:effectLst/>
              <a:uLnTx/>
              <a:uFillTx/>
              <a:latin typeface="Gill Sans Nova" panose="020B06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28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58308" y="24492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EBB45E4-25F0-F2F1-BDE4-E23C4D1F2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7818" y="4012237"/>
            <a:ext cx="5903483" cy="5400000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6FDBFD8B-830B-F75D-9C91-49E6DFC9C2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18861" y="4012237"/>
            <a:ext cx="5868921" cy="540000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AB451B9-36E3-8736-8CE1-F51CEE07CFA6}"/>
              </a:ext>
            </a:extLst>
          </p:cNvPr>
          <p:cNvSpPr txBox="1"/>
          <p:nvPr/>
        </p:nvSpPr>
        <p:spPr>
          <a:xfrm>
            <a:off x="0" y="2384044"/>
            <a:ext cx="182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Data grouped by country</a:t>
            </a:r>
          </a:p>
        </p:txBody>
      </p:sp>
    </p:spTree>
    <p:extLst>
      <p:ext uri="{BB962C8B-B14F-4D97-AF65-F5344CB8AC3E}">
        <p14:creationId xmlns:p14="http://schemas.microsoft.com/office/powerpoint/2010/main" val="254173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01F8D7B-AD92-1D52-6DB7-5E6853EF4BB1}"/>
              </a:ext>
            </a:extLst>
          </p:cNvPr>
          <p:cNvSpPr txBox="1"/>
          <p:nvPr/>
        </p:nvSpPr>
        <p:spPr>
          <a:xfrm>
            <a:off x="0" y="2384044"/>
            <a:ext cx="182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Data grouped by year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58308" y="24492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A002F37-AB2B-24D9-4F86-8698809C67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" y="5295900"/>
            <a:ext cx="8587732" cy="299748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93FAEF-3007-0A12-218B-1348A83797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81430" y="4952185"/>
            <a:ext cx="7743782" cy="363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2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58308" y="24492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108DA422-DE04-7DB9-CC32-B2281C2939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6059" y="4106399"/>
            <a:ext cx="9000000" cy="1951501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2DDB34F-C7FA-A3D6-18B9-672E591ECC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46059" y="7124700"/>
            <a:ext cx="9000000" cy="2085864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3981693-CB71-7F7D-06DE-3A0B63844F55}"/>
              </a:ext>
            </a:extLst>
          </p:cNvPr>
          <p:cNvSpPr txBox="1"/>
          <p:nvPr/>
        </p:nvSpPr>
        <p:spPr>
          <a:xfrm>
            <a:off x="0" y="2384044"/>
            <a:ext cx="182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Data grouped by economic activity</a:t>
            </a:r>
          </a:p>
        </p:txBody>
      </p:sp>
    </p:spTree>
    <p:extLst>
      <p:ext uri="{BB962C8B-B14F-4D97-AF65-F5344CB8AC3E}">
        <p14:creationId xmlns:p14="http://schemas.microsoft.com/office/powerpoint/2010/main" val="4090852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58308" y="24492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 descr="Immagine che contiene testo, diagramma, schermata, Rettangolo&#10;&#10;Descrizione generata automaticamente">
            <a:extLst>
              <a:ext uri="{FF2B5EF4-FFF2-40B4-BE49-F238E27FC236}">
                <a16:creationId xmlns:a16="http://schemas.microsoft.com/office/drawing/2014/main" id="{65418487-21E2-32CE-F8C4-1FBD1CF710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539991"/>
            <a:ext cx="8701749" cy="4320000"/>
          </a:xfrm>
          <a:prstGeom prst="rect">
            <a:avLst/>
          </a:prstGeom>
          <a:ln>
            <a:noFill/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29C1640-E9A7-E4E7-B10B-C814E8B25B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936" y="4539991"/>
            <a:ext cx="8701749" cy="4320000"/>
          </a:xfrm>
          <a:prstGeom prst="rect">
            <a:avLst/>
          </a:prstGeom>
          <a:ln>
            <a:noFill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51B0D67-3414-A03E-4F12-D46EE67FFEF1}"/>
              </a:ext>
            </a:extLst>
          </p:cNvPr>
          <p:cNvSpPr txBox="1"/>
          <p:nvPr/>
        </p:nvSpPr>
        <p:spPr>
          <a:xfrm>
            <a:off x="0" y="2384044"/>
            <a:ext cx="1828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Felix Titling" panose="04060505060202020A04" pitchFamily="82" charset="0"/>
                <a:ea typeface="Aptos" panose="020B0004020202020204" pitchFamily="34" charset="0"/>
                <a:cs typeface="font318"/>
              </a:rPr>
              <a:t>Levels or logs?</a:t>
            </a:r>
          </a:p>
        </p:txBody>
      </p:sp>
    </p:spTree>
    <p:extLst>
      <p:ext uri="{BB962C8B-B14F-4D97-AF65-F5344CB8AC3E}">
        <p14:creationId xmlns:p14="http://schemas.microsoft.com/office/powerpoint/2010/main" val="3274761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55607" y="24492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76DD663-8D6A-0B2C-71E9-86225349A685}"/>
                  </a:ext>
                </a:extLst>
              </p:cNvPr>
              <p:cNvSpPr txBox="1"/>
              <p:nvPr/>
            </p:nvSpPr>
            <p:spPr>
              <a:xfrm>
                <a:off x="-5547" y="4984496"/>
                <a:ext cx="8312489" cy="11727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𝐸𝑀𝑃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𝐼𝐶𝑇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2400" dirty="0"/>
              </a:p>
              <a:p>
                <a:endParaRPr lang="en-GB" sz="24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76DD663-8D6A-0B2C-71E9-86225349A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547" y="4984496"/>
                <a:ext cx="8312489" cy="1172757"/>
              </a:xfrm>
              <a:prstGeom prst="rect">
                <a:avLst/>
              </a:prstGeom>
              <a:blipFill>
                <a:blip r:embed="rId3"/>
                <a:stretch>
                  <a:fillRect b="-7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B91AA077-C519-8387-0C3A-6BD9BFCC31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3097253"/>
            <a:ext cx="4612713" cy="612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0703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3858308" y="24492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76DD663-8D6A-0B2C-71E9-86225349A685}"/>
                  </a:ext>
                </a:extLst>
              </p:cNvPr>
              <p:cNvSpPr txBox="1"/>
              <p:nvPr/>
            </p:nvSpPr>
            <p:spPr>
              <a:xfrm>
                <a:off x="0" y="2318405"/>
                <a:ext cx="9143350" cy="1167499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 algn="just"/>
                <a:endParaRPr lang="it-IT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376DD663-8D6A-0B2C-71E9-86225349A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18405"/>
                <a:ext cx="9143350" cy="1167499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858BA1-CC24-E2AF-5F5D-F62788EB5303}"/>
              </a:ext>
            </a:extLst>
          </p:cNvPr>
          <p:cNvSpPr txBox="1"/>
          <p:nvPr/>
        </p:nvSpPr>
        <p:spPr>
          <a:xfrm>
            <a:off x="11350567" y="292234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7ACDF8F-07AD-A53B-2725-1427FEDD1CBD}"/>
                  </a:ext>
                </a:extLst>
              </p:cNvPr>
              <p:cNvSpPr txBox="1"/>
              <p:nvPr/>
            </p:nvSpPr>
            <p:spPr>
              <a:xfrm>
                <a:off x="9143739" y="2318405"/>
                <a:ext cx="9144261" cy="1167499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i="1" dirty="0"/>
              </a:p>
              <a:p>
                <a:endParaRPr lang="en-GB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7ACDF8F-07AD-A53B-2725-1427FEDD1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739" y="2318405"/>
                <a:ext cx="9144261" cy="1167499"/>
              </a:xfrm>
              <a:prstGeom prst="rect">
                <a:avLst/>
              </a:prstGeom>
              <a:blipFill>
                <a:blip r:embed="rId4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>
            <a:extLst>
              <a:ext uri="{FF2B5EF4-FFF2-40B4-BE49-F238E27FC236}">
                <a16:creationId xmlns:a16="http://schemas.microsoft.com/office/drawing/2014/main" id="{F3AE9493-A938-7E2D-04D8-DD8C44670A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12598" y="3752309"/>
            <a:ext cx="9066922" cy="612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47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56565" y="48985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858BA1-CC24-E2AF-5F5D-F62788EB5303}"/>
              </a:ext>
            </a:extLst>
          </p:cNvPr>
          <p:cNvSpPr txBox="1"/>
          <p:nvPr/>
        </p:nvSpPr>
        <p:spPr>
          <a:xfrm>
            <a:off x="11350567" y="292234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BF2EDF6-B023-69B1-ABAF-D7C1511549B7}"/>
                  </a:ext>
                </a:extLst>
              </p:cNvPr>
              <p:cNvSpPr txBox="1"/>
              <p:nvPr/>
            </p:nvSpPr>
            <p:spPr>
              <a:xfrm>
                <a:off x="-2" y="2524711"/>
                <a:ext cx="6120000" cy="754887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𝑀𝑜𝑑𝑒𝑙𝑠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2_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it-IT" sz="24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BF2EDF6-B023-69B1-ABAF-D7C151154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524711"/>
                <a:ext cx="6120000" cy="754887"/>
              </a:xfrm>
              <a:prstGeom prst="rect">
                <a:avLst/>
              </a:prstGeom>
              <a:blipFill>
                <a:blip r:embed="rId3"/>
                <a:stretch>
                  <a:fillRect b="-15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58733AE-B686-E2DC-8A93-10CF96DAD81F}"/>
                  </a:ext>
                </a:extLst>
              </p:cNvPr>
              <p:cNvSpPr txBox="1"/>
              <p:nvPr/>
            </p:nvSpPr>
            <p:spPr>
              <a:xfrm>
                <a:off x="6119998" y="2522284"/>
                <a:ext cx="6048000" cy="754887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𝑀𝑜𝑑𝑒𝑙𝑠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3_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it-IT" sz="24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58733AE-B686-E2DC-8A93-10CF96DA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98" y="2522284"/>
                <a:ext cx="6048000" cy="754887"/>
              </a:xfrm>
              <a:prstGeom prst="rect">
                <a:avLst/>
              </a:prstGeom>
              <a:blipFill>
                <a:blip r:embed="rId4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26C2A2B-D217-619B-A311-D5C3A546EE0F}"/>
                  </a:ext>
                </a:extLst>
              </p:cNvPr>
              <p:cNvSpPr txBox="1"/>
              <p:nvPr/>
            </p:nvSpPr>
            <p:spPr>
              <a:xfrm>
                <a:off x="12167998" y="2522284"/>
                <a:ext cx="6120000" cy="754887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𝑀𝑜𝑑𝑒𝑙𝑠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3_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it-IT" sz="24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26C2A2B-D217-619B-A311-D5C3A546E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998" y="2522284"/>
                <a:ext cx="6120000" cy="754887"/>
              </a:xfrm>
              <a:prstGeom prst="rect">
                <a:avLst/>
              </a:prstGeom>
              <a:blipFill>
                <a:blip r:embed="rId5"/>
                <a:stretch>
                  <a:fillRect l="-1096" b="-14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magine 20">
            <a:extLst>
              <a:ext uri="{FF2B5EF4-FFF2-40B4-BE49-F238E27FC236}">
                <a16:creationId xmlns:a16="http://schemas.microsoft.com/office/drawing/2014/main" id="{1C656D7B-9922-8DAD-DF1B-BFB6052A69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3000" y="3672053"/>
            <a:ext cx="7024939" cy="6120000"/>
          </a:xfrm>
          <a:prstGeom prst="rect">
            <a:avLst/>
          </a:prstGeom>
          <a:ln>
            <a:noFill/>
          </a:ln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9D26C620-881E-AB56-1333-1AF52B45AE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3200" y="3672053"/>
            <a:ext cx="6820765" cy="612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1480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56565" y="48985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3858BA1-CC24-E2AF-5F5D-F62788EB5303}"/>
              </a:ext>
            </a:extLst>
          </p:cNvPr>
          <p:cNvSpPr txBox="1"/>
          <p:nvPr/>
        </p:nvSpPr>
        <p:spPr>
          <a:xfrm>
            <a:off x="11350567" y="292234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BF2EDF6-B023-69B1-ABAF-D7C1511549B7}"/>
                  </a:ext>
                </a:extLst>
              </p:cNvPr>
              <p:cNvSpPr txBox="1"/>
              <p:nvPr/>
            </p:nvSpPr>
            <p:spPr>
              <a:xfrm>
                <a:off x="-2" y="2524711"/>
                <a:ext cx="6120000" cy="754887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𝑀𝑜𝑑𝑒𝑙𝑠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2_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it-IT" sz="24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 smtClean="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GB" sz="24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4BF2EDF6-B023-69B1-ABAF-D7C151154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" y="2524711"/>
                <a:ext cx="6120000" cy="754887"/>
              </a:xfrm>
              <a:prstGeom prst="rect">
                <a:avLst/>
              </a:prstGeom>
              <a:blipFill>
                <a:blip r:embed="rId3"/>
                <a:stretch>
                  <a:fillRect b="-153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58733AE-B686-E2DC-8A93-10CF96DAD81F}"/>
                  </a:ext>
                </a:extLst>
              </p:cNvPr>
              <p:cNvSpPr txBox="1"/>
              <p:nvPr/>
            </p:nvSpPr>
            <p:spPr>
              <a:xfrm>
                <a:off x="6119998" y="2522284"/>
                <a:ext cx="6048000" cy="754887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𝑀𝑜𝑑𝑒𝑙𝑠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3_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it-IT" sz="24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it-IT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58733AE-B686-E2DC-8A93-10CF96DAD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9998" y="2522284"/>
                <a:ext cx="6048000" cy="754887"/>
              </a:xfrm>
              <a:prstGeom prst="rect">
                <a:avLst/>
              </a:prstGeom>
              <a:blipFill>
                <a:blip r:embed="rId4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26C2A2B-D217-619B-A311-D5C3A546EE0F}"/>
                  </a:ext>
                </a:extLst>
              </p:cNvPr>
              <p:cNvSpPr txBox="1"/>
              <p:nvPr/>
            </p:nvSpPr>
            <p:spPr>
              <a:xfrm>
                <a:off x="12167998" y="2522284"/>
                <a:ext cx="6120000" cy="754887"/>
              </a:xfrm>
              <a:prstGeom prst="rect">
                <a:avLst/>
              </a:prstGeom>
              <a:noFill/>
            </p:spPr>
            <p:txBody>
              <a:bodyPr wrap="square" lIns="0" tIns="0" rIns="0" bIns="0" numCol="2" rtlCol="0">
                <a:spAutoFit/>
              </a:bodyPr>
              <a:lstStyle/>
              <a:p>
                <a:pPr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𝑀𝑜𝑑𝑒𝑙𝑠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  3_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it-IT" sz="2400" b="0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𝐷</m:t>
                      </m:r>
                    </m:oMath>
                  </m:oMathPara>
                </a14:m>
                <a:endParaRPr lang="it-IT" sz="2400" i="1" kern="100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𝐸𝑀𝑃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unc>
                            <m:func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</a:rPr>
                                    <m:t>𝐼𝐶𝑇</m:t>
                                  </m:r>
                                </m:e>
                              </m:d>
                            </m:e>
                          </m:func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0" name="CasellaDiTesto 19">
                <a:extLst>
                  <a:ext uri="{FF2B5EF4-FFF2-40B4-BE49-F238E27FC236}">
                    <a16:creationId xmlns:a16="http://schemas.microsoft.com/office/drawing/2014/main" id="{426C2A2B-D217-619B-A311-D5C3A546E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998" y="2522284"/>
                <a:ext cx="6120000" cy="754887"/>
              </a:xfrm>
              <a:prstGeom prst="rect">
                <a:avLst/>
              </a:prstGeom>
              <a:blipFill>
                <a:blip r:embed="rId5"/>
                <a:stretch>
                  <a:fillRect l="-1096" b="-14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magine 20">
            <a:extLst>
              <a:ext uri="{FF2B5EF4-FFF2-40B4-BE49-F238E27FC236}">
                <a16:creationId xmlns:a16="http://schemas.microsoft.com/office/drawing/2014/main" id="{1C656D7B-9922-8DAD-DF1B-BFB6052A69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5083" y="3672053"/>
            <a:ext cx="6980772" cy="6120000"/>
          </a:xfrm>
          <a:prstGeom prst="rect">
            <a:avLst/>
          </a:prstGeom>
          <a:ln>
            <a:noFill/>
          </a:ln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9D26C620-881E-AB56-1333-1AF52B45AE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64150" y="3672053"/>
            <a:ext cx="6618865" cy="6120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3414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56248" y="38100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28B696C-2FDE-36C3-7433-10AEE9E00951}"/>
                  </a:ext>
                </a:extLst>
              </p:cNvPr>
              <p:cNvSpPr txBox="1"/>
              <p:nvPr/>
            </p:nvSpPr>
            <p:spPr>
              <a:xfrm>
                <a:off x="838199" y="2830901"/>
                <a:ext cx="16611600" cy="6666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3200" b="1" kern="50" spc="-5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Summary</a:t>
                </a:r>
                <a:endParaRPr lang="en-US" sz="3200" kern="50" spc="-50" dirty="0">
                  <a:solidFill>
                    <a:schemeClr val="tx2">
                      <a:lumMod val="75000"/>
                    </a:schemeClr>
                  </a:solidFill>
                  <a:effectLst/>
                  <a:latin typeface="Gill Sans Nova" panose="020B0602020104020203" pitchFamily="34" charset="0"/>
                  <a:ea typeface="Aptos" panose="020B0004020202020204" pitchFamily="34" charset="0"/>
                  <a:cs typeface="font318"/>
                </a:endParaRPr>
              </a:p>
              <a:p>
                <a:pPr marL="685800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Considering all sectors, a 1% increase in ICT investments involve a 0.337% increase in Annual employment for </a:t>
                </a:r>
                <a14:m>
                  <m:oMath xmlns:m="http://schemas.openxmlformats.org/officeDocument/2006/math">
                    <m:r>
                      <a:rPr lang="en-US" sz="3200" i="1" kern="50" spc="-5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font318"/>
                      </a:rPr>
                      <m:t>𝛼</m:t>
                    </m:r>
                    <m:r>
                      <a:rPr lang="it-IT" sz="3200" b="0" i="1" kern="50" spc="-5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font318"/>
                      </a:rPr>
                      <m:t>=1%</m:t>
                    </m:r>
                  </m:oMath>
                </a14:m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.</a:t>
                </a:r>
                <a:endParaRPr lang="en-US" sz="3200" kern="50" spc="-50" dirty="0">
                  <a:solidFill>
                    <a:schemeClr val="tx2">
                      <a:lumMod val="75000"/>
                    </a:schemeClr>
                  </a:solidFill>
                  <a:latin typeface="Gill Sans Nova" panose="020B0602020104020203" pitchFamily="34" charset="0"/>
                  <a:ea typeface="Aptos" panose="020B0004020202020204" pitchFamily="34" charset="0"/>
                  <a:cs typeface="font318"/>
                </a:endParaRPr>
              </a:p>
              <a:p>
                <a:pPr marL="685800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In Manufacturing sector, </a:t>
                </a:r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a 1% increase in ICT investments involve a 0.043% increase in Annual employment for </a:t>
                </a:r>
                <a14:m>
                  <m:oMath xmlns:m="http://schemas.openxmlformats.org/officeDocument/2006/math">
                    <m:r>
                      <a:rPr lang="en-US" sz="3200" i="1" kern="50" spc="-5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font318"/>
                      </a:rPr>
                      <m:t>𝛼</m:t>
                    </m:r>
                    <m:r>
                      <a:rPr lang="it-IT" sz="3200" b="0" i="1" kern="50" spc="-5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font318"/>
                      </a:rPr>
                      <m:t>=10%</m:t>
                    </m:r>
                  </m:oMath>
                </a14:m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.</a:t>
                </a:r>
              </a:p>
              <a:p>
                <a:pPr marL="685800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In Information and communication and F</a:t>
                </a:r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inancial and insurance activities the coefficients aren’t statistically different from 0.</a:t>
                </a:r>
              </a:p>
              <a:p>
                <a:pPr marL="685800" indent="-6858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In Professional, scientific and technical activities; administrative and support service activities, </a:t>
                </a:r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a 1% increase in ICT investments involve a 0.084% increase in Annual employment for </a:t>
                </a:r>
                <a14:m>
                  <m:oMath xmlns:m="http://schemas.openxmlformats.org/officeDocument/2006/math">
                    <m:r>
                      <a:rPr lang="en-US" sz="3200" i="1" kern="50" spc="-5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font318"/>
                      </a:rPr>
                      <m:t>𝛼</m:t>
                    </m:r>
                    <m:r>
                      <a:rPr lang="it-IT" sz="3200" b="0" i="1" kern="50" spc="-5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font318"/>
                      </a:rPr>
                      <m:t>=1%</m:t>
                    </m:r>
                  </m:oMath>
                </a14:m>
                <a:r>
                  <a:rPr lang="en-US" sz="3200" kern="50" spc="-50" dirty="0">
                    <a:solidFill>
                      <a:schemeClr val="tx2">
                        <a:lumMod val="75000"/>
                      </a:schemeClr>
                    </a:solidFill>
                    <a:effectLst/>
                    <a:latin typeface="Gill Sans Nova" panose="020B0602020104020203" pitchFamily="34" charset="0"/>
                    <a:ea typeface="Aptos" panose="020B0004020202020204" pitchFamily="34" charset="0"/>
                    <a:cs typeface="font318"/>
                  </a:rPr>
                  <a:t>.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28B696C-2FDE-36C3-7433-10AEE9E00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2830901"/>
                <a:ext cx="16611600" cy="6666312"/>
              </a:xfrm>
              <a:prstGeom prst="rect">
                <a:avLst/>
              </a:prstGeom>
              <a:blipFill>
                <a:blip r:embed="rId3"/>
                <a:stretch>
                  <a:fillRect l="-917" r="-954" b="-20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0473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4156248" y="38100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8B696C-2FDE-36C3-7433-10AEE9E00951}"/>
              </a:ext>
            </a:extLst>
          </p:cNvPr>
          <p:cNvSpPr txBox="1"/>
          <p:nvPr/>
        </p:nvSpPr>
        <p:spPr>
          <a:xfrm>
            <a:off x="838199" y="2178351"/>
            <a:ext cx="16611600" cy="7407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Mo</a:t>
            </a:r>
            <a:r>
              <a:rPr lang="en-US" sz="3200" b="1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del’s limits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Omitted variables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kern="50" spc="-5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Reverse causality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Data selection</a:t>
            </a:r>
            <a:endParaRPr lang="en-US" sz="4400" kern="50" spc="-5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font318"/>
            </a:endParaRPr>
          </a:p>
          <a:p>
            <a:pPr algn="just">
              <a:lnSpc>
                <a:spcPct val="150000"/>
              </a:lnSpc>
            </a:pPr>
            <a:endParaRPr lang="en-US" sz="3200" b="1" kern="50" spc="-5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font318"/>
            </a:endParaRPr>
          </a:p>
          <a:p>
            <a:pPr algn="just">
              <a:lnSpc>
                <a:spcPct val="150000"/>
              </a:lnSpc>
            </a:pPr>
            <a:r>
              <a:rPr lang="en-US" sz="3200" b="1" kern="50" spc="-5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font318"/>
              </a:rPr>
              <a:t>Policy’s implications</a:t>
            </a:r>
            <a:endParaRPr lang="en-US" sz="3200" kern="50" spc="-50" dirty="0">
              <a:solidFill>
                <a:schemeClr val="tx2">
                  <a:lumMod val="75000"/>
                </a:schemeClr>
              </a:solidFill>
              <a:latin typeface="Gill Sans Nova" panose="020B0602020104020203" pitchFamily="34" charset="0"/>
              <a:ea typeface="Aptos" panose="020B0004020202020204" pitchFamily="34" charset="0"/>
              <a:cs typeface="font318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</a:rPr>
              <a:t>Continue to invest in ICT in all sectors with continuous professional developments.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</a:rPr>
              <a:t>Technological progress must advance alongside human skills advancement.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</a:rPr>
              <a:t>Prevent situations where hiring new workers </a:t>
            </a:r>
            <a:r>
              <a:rPr lang="en-GB" sz="320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</a:rPr>
              <a:t>is the only </a:t>
            </a:r>
            <a:r>
              <a:rPr lang="en-GB" sz="3200" dirty="0">
                <a:solidFill>
                  <a:schemeClr val="tx2">
                    <a:lumMod val="75000"/>
                  </a:schemeClr>
                </a:solidFill>
                <a:latin typeface="Gill Sans Nova" panose="020B0602020104020203" pitchFamily="34" charset="0"/>
              </a:rPr>
              <a:t>way to fully leverage technological innovations.</a:t>
            </a:r>
            <a:endParaRPr lang="en-US" sz="3200" kern="50" spc="-5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font318"/>
            </a:endParaRPr>
          </a:p>
        </p:txBody>
      </p:sp>
    </p:spTree>
    <p:extLst>
      <p:ext uri="{BB962C8B-B14F-4D97-AF65-F5344CB8AC3E}">
        <p14:creationId xmlns:p14="http://schemas.microsoft.com/office/powerpoint/2010/main" val="2923174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ED5218A9-AA5D-9DE8-8ED3-B8707B46FCE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307053" y="48985"/>
            <a:ext cx="9975503" cy="1023801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0"/>
            <a:ext cx="18288635" cy="2052000"/>
          </a:xfrm>
          <a:custGeom>
            <a:avLst/>
            <a:gdLst/>
            <a:ahLst/>
            <a:cxnLst/>
            <a:rect l="l" t="t" r="r" b="b"/>
            <a:pathLst>
              <a:path w="18288635" h="2035175">
                <a:moveTo>
                  <a:pt x="18288367" y="2034690"/>
                </a:moveTo>
                <a:lnTo>
                  <a:pt x="0" y="2034690"/>
                </a:lnTo>
                <a:lnTo>
                  <a:pt x="0" y="0"/>
                </a:lnTo>
                <a:lnTo>
                  <a:pt x="18288367" y="0"/>
                </a:lnTo>
                <a:lnTo>
                  <a:pt x="18288367" y="203469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it-IT" sz="5400" b="1" kern="100" spc="75" dirty="0" err="1">
                <a:solidFill>
                  <a:schemeClr val="bg1"/>
                </a:solidFill>
                <a:effectLst/>
                <a:latin typeface="Felix Titling" panose="04060505060202020A04" pitchFamily="8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Bibliography</a:t>
            </a:r>
            <a:endParaRPr lang="en-GB" sz="5400" b="1" kern="100" spc="75" dirty="0">
              <a:solidFill>
                <a:schemeClr val="bg1"/>
              </a:solidFill>
              <a:effectLst/>
              <a:latin typeface="Felix Titling" panose="04060505060202020A04" pitchFamily="8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28B696C-2FDE-36C3-7433-10AEE9E00951}"/>
              </a:ext>
            </a:extLst>
          </p:cNvPr>
          <p:cNvSpPr txBox="1"/>
          <p:nvPr/>
        </p:nvSpPr>
        <p:spPr>
          <a:xfrm>
            <a:off x="838200" y="2400300"/>
            <a:ext cx="16611600" cy="7574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Arial" panose="020B0604020202020204" pitchFamily="34" charset="0"/>
              </a:rPr>
              <a:t>After reading the articles below, I used ChatGPT to summarise them more efficiently.</a:t>
            </a:r>
          </a:p>
          <a:p>
            <a:pPr marL="285750" lvl="0" indent="-285750"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OECD Digital Economy Outlook 2024 (Volume 1)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”, OECD (2024)</a:t>
            </a:r>
          </a:p>
          <a:p>
            <a:pPr marL="285750" lvl="0" indent="-285750"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“Negative impacts of technology in the workplace”, 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Deloitte Insight (2023)</a:t>
            </a:r>
          </a:p>
          <a:p>
            <a:pPr marL="285750" lvl="0" indent="-285750"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Dangers of Automation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", Michael Chui et al. (2017)</a:t>
            </a:r>
          </a:p>
          <a:p>
            <a:pPr marL="285750" lvl="0" indent="-285750"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Human Cost of Digital Transformation in Financial Services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GB" sz="2400" b="1" kern="100" baseline="300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McKinsey &amp; Company (2021)</a:t>
            </a:r>
          </a:p>
          <a:p>
            <a:pPr marL="285750" lvl="0" indent="-285750"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impact of ICT professionals on job demand and employment trends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", CEDEFOP (2023)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ICTs and Jobs: Complements or Substitutes? The Effects of ICT Investment on Labour Demand by Skills and by Industry in Selected OECD Countries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", Vincenzo Spiezia, Michael Polder, and Giorgio Presidente (2016)</a:t>
            </a:r>
          </a:p>
          <a:p>
            <a:pPr marL="285750" lvl="0" indent="-285750" algn="just">
              <a:lnSpc>
                <a:spcPct val="115000"/>
              </a:lnSpc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Technological Change and Employment in the Manufacturing Sector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World Bank (2022)</a:t>
            </a:r>
            <a:endParaRPr lang="en-GB" sz="2400" kern="10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15000"/>
              </a:lnSpc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Impact of Information and Communication Technologies on Employment in Financial Services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Michael G. Kearney and Eoin O’Leary (2015)</a:t>
            </a:r>
            <a:endParaRPr lang="en-GB" sz="2400" kern="10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15000"/>
              </a:lnSpc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Impact of ICT on Employment in the Information and Communication Sector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Zainab A. Al-Mahmoud e </a:t>
            </a:r>
            <a:r>
              <a:rPr lang="en-GB" sz="2400" kern="100" dirty="0" err="1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Mohaisen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Al-</a:t>
            </a:r>
            <a:r>
              <a:rPr lang="en-GB" sz="2400" kern="100" dirty="0" err="1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Marzouqi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(2018)</a:t>
            </a:r>
            <a:endParaRPr lang="en-GB" sz="2400" kern="10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15000"/>
              </a:lnSpc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Future of the Digital Workforce: Current and Future Challenges for Executive and Administrative Assistants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 </a:t>
            </a:r>
            <a:r>
              <a:rPr lang="en-GB" sz="2400" kern="100" dirty="0" err="1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Anabela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Mesquita, Luciana Oliveira, and Arminda Sequeira (2019)</a:t>
            </a:r>
            <a:endParaRPr lang="en-GB" sz="2400" kern="10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influence of information and communication technology on productivity: A systematic review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”, Müller and </a:t>
            </a:r>
            <a:r>
              <a:rPr lang="en-GB" sz="2400" kern="100" dirty="0" err="1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Christmann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(2019)</a:t>
            </a:r>
          </a:p>
          <a:p>
            <a:pPr marL="285750" lvl="0" indent="-285750">
              <a:lnSpc>
                <a:spcPct val="115000"/>
              </a:lnSpc>
              <a:spcAft>
                <a:spcPts val="600"/>
              </a:spcAft>
              <a:buSzPts val="1200"/>
              <a:buFont typeface="Arial" panose="020B0604020202020204" pitchFamily="34" charset="0"/>
              <a:buChar char="•"/>
            </a:pP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GB" sz="2400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technology and the U.S. productivity Revival: What Do the Industry Data Say?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GB" sz="2400" b="1" i="1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Kevin J. </a:t>
            </a:r>
            <a:r>
              <a:rPr lang="en-GB" sz="2400" kern="100" dirty="0" err="1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Stiroh</a:t>
            </a:r>
            <a:r>
              <a:rPr lang="en-GB" sz="2400" kern="100" dirty="0">
                <a:solidFill>
                  <a:schemeClr val="tx2">
                    <a:lumMod val="75000"/>
                  </a:schemeClr>
                </a:solidFill>
                <a:effectLst/>
                <a:latin typeface="Gill Sans Nova" panose="020B06020201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(2002)</a:t>
            </a:r>
            <a:endParaRPr lang="en-GB" sz="2400" kern="100" dirty="0">
              <a:solidFill>
                <a:schemeClr val="tx2">
                  <a:lumMod val="75000"/>
                </a:schemeClr>
              </a:solidFill>
              <a:effectLst/>
              <a:latin typeface="Gill Sans Nova" panose="020B06020201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9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1302</TotalTime>
  <Words>803</Words>
  <Application>Microsoft Office PowerPoint</Application>
  <PresentationFormat>Personalizzato</PresentationFormat>
  <Paragraphs>101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Aptos</vt:lpstr>
      <vt:lpstr>Arial</vt:lpstr>
      <vt:lpstr>Arial Black</vt:lpstr>
      <vt:lpstr>Cambria Math</vt:lpstr>
      <vt:lpstr>Felix Titling</vt:lpstr>
      <vt:lpstr>Gill Sans Nova</vt:lpstr>
      <vt:lpstr>Gill Sans Nova Light</vt:lpstr>
      <vt:lpstr>Lucida Sans Unicode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serata 18-set</dc:title>
  <dc:creator>Gabriele Ferraresi</dc:creator>
  <cp:keywords>DAGQb53-h3g,BAF_elUCoUg</cp:keywords>
  <cp:lastModifiedBy>gabriele ferraresi</cp:lastModifiedBy>
  <cp:revision>18</cp:revision>
  <dcterms:created xsi:type="dcterms:W3CDTF">2024-09-12T07:45:07Z</dcterms:created>
  <dcterms:modified xsi:type="dcterms:W3CDTF">2024-10-24T07:12:07Z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2024-09-12T00:00:00Z</vt:filetime>
  </property>
  <property fmtid="{D5CDD505-2E9C-101B-9397-08002B2CF9AE}" pid="3" name="Creator">
    <vt:lpwstr>Canva</vt:lpwstr>
  </property>
  <property fmtid="{D5CDD505-2E9C-101B-9397-08002B2CF9AE}" pid="4" name="LastSaved">
    <vt:filetime>2024-09-12T00:00:00Z</vt:filetime>
  </property>
  <property fmtid="{D5CDD505-2E9C-101B-9397-08002B2CF9AE}" pid="5" name="Producer">
    <vt:lpwstr>Canva</vt:lpwstr>
  </property>
</Properties>
</file>